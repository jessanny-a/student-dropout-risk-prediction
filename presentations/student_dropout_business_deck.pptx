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37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7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0734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109728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Early Support,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 Automated Judgment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94360" y="2743200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7E9FF"/>
                </a:solidFill>
              </a:rPr>
              <a:t>Executive view of the student dropout early-warning model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046720" y="1005840"/>
            <a:ext cx="3108960" cy="128016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6" name="Text 4"/>
          <p:cNvSpPr/>
          <p:nvPr/>
        </p:nvSpPr>
        <p:spPr>
          <a:xfrm>
            <a:off x="8174736" y="1097280"/>
            <a:ext cx="2852928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0233F"/>
                </a:solidFill>
              </a:rPr>
              <a:t>CONDITIONAL GO</a:t>
            </a:r>
            <a:endParaRPr lang="en-US" sz="1400" b="1" dirty="0"/>
          </a:p>
          <a:p>
            <a:pPr marL="0" indent="0">
              <a:buNone/>
            </a:pPr>
            <a:r>
              <a:rPr lang="en-US" sz="1400" dirty="0">
                <a:solidFill>
                  <a:srgbClr val="10233F"/>
                </a:solidFill>
              </a:rPr>
              <a:t>Supportive decision support only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280" y="30175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DE68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87.3%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7955280" y="3474720"/>
            <a:ext cx="15544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Dropout recall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692640" y="30175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DE68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39.8%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9692640" y="3474720"/>
            <a:ext cx="15544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Alert workload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</a:rPr>
              <a:t>EXECUTIVE CONTEXT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1155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Opportunity: Prioritize Limited Support Capacity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5" name="Text 3"/>
          <p:cNvSpPr/>
          <p:nvPr/>
        </p:nvSpPr>
        <p:spPr>
          <a:xfrm>
            <a:off x="685800" y="1234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0233F"/>
                </a:solidFill>
              </a:rPr>
              <a:t>Student support teams need a reliable way to focus attention before dropout becomes irreversible.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3200400" cy="1143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7" name="Text 5"/>
          <p:cNvSpPr/>
          <p:nvPr/>
        </p:nvSpPr>
        <p:spPr>
          <a:xfrm>
            <a:off x="950976" y="2194560"/>
            <a:ext cx="2944368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0233F"/>
                </a:solidFill>
              </a:rPr>
              <a:t>Business Problem:</a:t>
            </a:r>
            <a:endParaRPr lang="en-US" sz="1250" b="1" dirty="0"/>
          </a:p>
          <a:p>
            <a:pPr marL="0" indent="0">
              <a:buNone/>
            </a:pPr>
            <a:r>
              <a:rPr lang="en-US" sz="1250" dirty="0">
                <a:solidFill>
                  <a:srgbClr val="10233F"/>
                </a:solidFill>
              </a:rPr>
              <a:t>Some students disengage before staff can identify them manually.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80560" y="2103120"/>
            <a:ext cx="3200400" cy="114300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9" name="Text 7"/>
          <p:cNvSpPr/>
          <p:nvPr/>
        </p:nvSpPr>
        <p:spPr>
          <a:xfrm>
            <a:off x="4608576" y="2194560"/>
            <a:ext cx="2944368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0233F"/>
                </a:solidFill>
              </a:rPr>
              <a:t>AI Contribution:</a:t>
            </a:r>
            <a:endParaRPr lang="en-US" sz="1250" b="1" dirty="0"/>
          </a:p>
          <a:p>
            <a:pPr marL="0" indent="0">
              <a:buNone/>
            </a:pPr>
            <a:r>
              <a:rPr lang="en-US" sz="1250" dirty="0">
                <a:solidFill>
                  <a:srgbClr val="10233F"/>
                </a:solidFill>
              </a:rPr>
              <a:t>Rank students by likelihood of dropout using end-of-Semester-1 signals.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2103120"/>
            <a:ext cx="3200400" cy="1143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1" name="Text 9"/>
          <p:cNvSpPr/>
          <p:nvPr/>
        </p:nvSpPr>
        <p:spPr>
          <a:xfrm>
            <a:off x="8266176" y="2194560"/>
            <a:ext cx="2944368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0233F"/>
                </a:solidFill>
              </a:rPr>
              <a:t>Operational Goal:</a:t>
            </a:r>
            <a:endParaRPr lang="en-US" sz="1250" b="1" dirty="0"/>
          </a:p>
          <a:p>
            <a:pPr marL="0" indent="0">
              <a:buNone/>
            </a:pPr>
            <a:r>
              <a:rPr lang="en-US" sz="1250" dirty="0">
                <a:solidFill>
                  <a:srgbClr val="10233F"/>
                </a:solidFill>
              </a:rPr>
              <a:t>Trigger earlier, supportive, human-reviewed outreach.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33F"/>
                </a:solidFill>
              </a:rPr>
              <a:t>What value does it bring?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4160520"/>
            <a:ext cx="103327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Better targeting of advising, counseling, and financial-support resources.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Fewer missed support opportunities than manual review alone.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Clear governance prevents harmful automated decisions.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</a:rPr>
              <a:t>USE GOVERNANCE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1155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Model Does — and Does Not Do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5" name="Text 3"/>
          <p:cNvSpPr/>
          <p:nvPr/>
        </p:nvSpPr>
        <p:spPr>
          <a:xfrm>
            <a:off x="822960" y="1332747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A34A"/>
                </a:solidFill>
              </a:rPr>
              <a:t>Approved Uses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1771669"/>
            <a:ext cx="4663440" cy="1152107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Prioritize supportive student outreach.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Offer academic advising or counseling.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Offer financial-support information.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Assist human case prioritization with controls.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0" y="1332747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C2626"/>
                </a:solidFill>
              </a:rPr>
              <a:t>Prohibited Uses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263640" y="1564983"/>
            <a:ext cx="4663440" cy="14868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Automatic withdrawal or dismissal.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Admission or scholarship denial.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Disciplinary action.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Automatic denial of institutional services.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707892"/>
            <a:ext cx="10058400" cy="86868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0" name="Text 8"/>
          <p:cNvSpPr/>
          <p:nvPr/>
        </p:nvSpPr>
        <p:spPr>
          <a:xfrm>
            <a:off x="987552" y="3799332"/>
            <a:ext cx="980236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0233F"/>
                </a:solidFill>
              </a:rPr>
              <a:t>Principle: </a:t>
            </a:r>
            <a:r>
              <a:rPr lang="en-US" sz="1400" dirty="0">
                <a:solidFill>
                  <a:srgbClr val="10233F"/>
                </a:solidFill>
              </a:rPr>
              <a:t>A high-risk score may create an opportunity for support; a low-risk score must never remove support access.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</a:rPr>
              <a:t>FINAL HOLDOUT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1155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Performance At a Glance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5" name="Text 3"/>
          <p:cNvSpPr/>
          <p:nvPr/>
        </p:nvSpPr>
        <p:spPr>
          <a:xfrm>
            <a:off x="777240" y="13258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D4ED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0.954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13716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ROC-AUC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880360" y="13258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D4ED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0.949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2880360" y="1783080"/>
            <a:ext cx="13716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PR-AUC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983480" y="13258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0.890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4983480" y="1783080"/>
            <a:ext cx="14630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Balanced accuracy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178040" y="13258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87.3%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7178040" y="1783080"/>
            <a:ext cx="14630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Dropout recall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418320" y="13258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39.8%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9418320" y="1783080"/>
            <a:ext cx="14630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Alert rate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77240" y="29260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33F"/>
                </a:solidFill>
              </a:rPr>
              <a:t>Holdout Outcomes Translated for Operations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77240" y="3401568"/>
            <a:ext cx="6126480" cy="3657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 sz="2000" dirty="0"/>
          </a:p>
        </p:txBody>
      </p:sp>
      <p:sp>
        <p:nvSpPr>
          <p:cNvPr id="17" name="Text 15"/>
          <p:cNvSpPr/>
          <p:nvPr/>
        </p:nvSpPr>
        <p:spPr>
          <a:xfrm>
            <a:off x="804672" y="3447288"/>
            <a:ext cx="1956816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0F172A"/>
                </a:solidFill>
              </a:rPr>
              <a:t>Outcome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2816352" y="3447288"/>
            <a:ext cx="950976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F172A"/>
                </a:solidFill>
              </a:rPr>
              <a:t>Count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3822192" y="3447288"/>
            <a:ext cx="3054096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F172A"/>
                </a:solidFill>
              </a:rPr>
              <a:t>Meaning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777240" y="3785616"/>
            <a:ext cx="6126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1" name="Text 19"/>
          <p:cNvSpPr/>
          <p:nvPr/>
        </p:nvSpPr>
        <p:spPr>
          <a:xfrm>
            <a:off x="804672" y="3831336"/>
            <a:ext cx="1956816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0F172A"/>
                </a:solidFill>
              </a:rPr>
              <a:t>True positives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2816352" y="3831336"/>
            <a:ext cx="950976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0F172A"/>
                </a:solidFill>
              </a:rPr>
              <a:t>248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3822192" y="3831336"/>
            <a:ext cx="3054096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0F172A"/>
                </a:solidFill>
              </a:rPr>
              <a:t>Actual dropouts correctly flagged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777240" y="4169664"/>
            <a:ext cx="612648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5" name="Text 23"/>
          <p:cNvSpPr/>
          <p:nvPr/>
        </p:nvSpPr>
        <p:spPr>
          <a:xfrm>
            <a:off x="804672" y="4215384"/>
            <a:ext cx="1956816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0F172A"/>
                </a:solidFill>
              </a:rPr>
              <a:t>False negatives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2816352" y="4215384"/>
            <a:ext cx="950976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0F172A"/>
                </a:solidFill>
              </a:rPr>
              <a:t>36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3822192" y="4215384"/>
            <a:ext cx="3054096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0F172A"/>
                </a:solidFill>
              </a:rPr>
              <a:t>Actual dropouts missed by the model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777240" y="4553712"/>
            <a:ext cx="6126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9" name="Text 27"/>
          <p:cNvSpPr/>
          <p:nvPr/>
        </p:nvSpPr>
        <p:spPr>
          <a:xfrm>
            <a:off x="804672" y="4599432"/>
            <a:ext cx="1956816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0F172A"/>
                </a:solidFill>
              </a:rPr>
              <a:t>False positives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2816352" y="4599432"/>
            <a:ext cx="950976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0F172A"/>
                </a:solidFill>
              </a:rPr>
              <a:t>41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3822192" y="4599432"/>
            <a:ext cx="3054096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0F172A"/>
                </a:solidFill>
              </a:rPr>
              <a:t>Graduates flagged for review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7543800" y="3474720"/>
            <a:ext cx="3474720" cy="10972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3" name="Text 31"/>
          <p:cNvSpPr/>
          <p:nvPr/>
        </p:nvSpPr>
        <p:spPr>
          <a:xfrm>
            <a:off x="7671816" y="3566160"/>
            <a:ext cx="3218688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33F"/>
                </a:solidFill>
              </a:rPr>
              <a:t>Implication: </a:t>
            </a:r>
            <a:r>
              <a:rPr lang="en-US" sz="1300" dirty="0">
                <a:solidFill>
                  <a:srgbClr val="10233F"/>
                </a:solidFill>
              </a:rPr>
              <a:t>Strong screening value, but still requires a safety net and human judgment.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</a:rPr>
              <a:t>WORKLOAD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1155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Operational Impact: Support Queue Size is Manageable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6" name="Text 3"/>
          <p:cNvSpPr/>
          <p:nvPr/>
        </p:nvSpPr>
        <p:spPr>
          <a:xfrm>
            <a:off x="6355080" y="1417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33F"/>
                </a:solidFill>
              </a:rPr>
              <a:t>Why we choose the balanced threshold?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355080" y="1874520"/>
            <a:ext cx="502920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0F172A"/>
                </a:solidFill>
              </a:rPr>
              <a:t>High-recall policy finds more dropouts but increases outreach volume.</a:t>
            </a:r>
          </a:p>
          <a:p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</a:rPr>
              <a:t>Balanced policy keeps the alert queue under 40% of students.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</a:rPr>
              <a:t>This supports focused interventions without overwhelming teams.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355080" y="3973067"/>
            <a:ext cx="4389120" cy="7772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9" name="Text 6"/>
          <p:cNvSpPr/>
          <p:nvPr/>
        </p:nvSpPr>
        <p:spPr>
          <a:xfrm>
            <a:off x="6611112" y="4064507"/>
            <a:ext cx="413308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0233F"/>
                </a:solidFill>
              </a:rPr>
              <a:t>Frozen policy: </a:t>
            </a:r>
            <a:r>
              <a:rPr lang="en-US" sz="1250" dirty="0">
                <a:solidFill>
                  <a:srgbClr val="10233F"/>
                </a:solidFill>
              </a:rPr>
              <a:t>XGBoost at 0.48. Any change requires new validation.</a:t>
            </a:r>
            <a:endParaRPr lang="en-US" sz="1250" dirty="0"/>
          </a:p>
        </p:txBody>
      </p:sp>
      <p:pic>
        <p:nvPicPr>
          <p:cNvPr id="12" name="Picture 11" descr="workload_full_labels.png">
            <a:extLst>
              <a:ext uri="{FF2B5EF4-FFF2-40B4-BE49-F238E27FC236}">
                <a16:creationId xmlns:a16="http://schemas.microsoft.com/office/drawing/2014/main" id="{6D50908F-2A73-EBCA-B823-59822AE0F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39" y="1417320"/>
            <a:ext cx="4840965" cy="30475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</a:rPr>
              <a:t>EXPLAINABILITY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1155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Drives Dropout Risk Predictions?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6" name="Text 3"/>
          <p:cNvSpPr/>
          <p:nvPr/>
        </p:nvSpPr>
        <p:spPr>
          <a:xfrm>
            <a:off x="6858000" y="1525691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33F"/>
                </a:solidFill>
              </a:rPr>
              <a:t>Interpretation: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858000" y="1685711"/>
            <a:ext cx="4480560" cy="1874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0F172A"/>
                </a:solidFill>
              </a:rPr>
              <a:t>The model is mostly reading early academic engagement and financial signals.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</a:rPr>
              <a:t>This is useful, but it may miss students whose challenges are not visible in data.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</a:rPr>
              <a:t>Advisor and faculty referrals must remain open.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858000" y="4023360"/>
            <a:ext cx="4114800" cy="74980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9" name="Text 6"/>
          <p:cNvSpPr/>
          <p:nvPr/>
        </p:nvSpPr>
        <p:spPr>
          <a:xfrm>
            <a:off x="7031736" y="4114800"/>
            <a:ext cx="385876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0233F"/>
                </a:solidFill>
              </a:rPr>
              <a:t>Explainability supports trust — but it does not prove causality.</a:t>
            </a:r>
            <a:endParaRPr lang="en-US" sz="1250" dirty="0"/>
          </a:p>
        </p:txBody>
      </p:sp>
      <p:pic>
        <p:nvPicPr>
          <p:cNvPr id="12" name="Picture 11" descr="shap_full_labels.png">
            <a:extLst>
              <a:ext uri="{FF2B5EF4-FFF2-40B4-BE49-F238E27FC236}">
                <a16:creationId xmlns:a16="http://schemas.microsoft.com/office/drawing/2014/main" id="{6A2D5856-2F37-B704-228B-BAB925DB8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46" y="1496035"/>
            <a:ext cx="5852160" cy="38594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</a:rPr>
              <a:t>RESPONSIBLE AI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1155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Fairness Findings: Where Monitoring Should Focus?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6" name="Text 3"/>
          <p:cNvSpPr/>
          <p:nvPr/>
        </p:nvSpPr>
        <p:spPr>
          <a:xfrm>
            <a:off x="6385562" y="14173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33F"/>
                </a:solidFill>
              </a:rPr>
              <a:t>Highest Priorities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385562" y="1417320"/>
            <a:ext cx="484632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0F172A"/>
                </a:solidFill>
              </a:rPr>
              <a:t>Financial-risk group: largest recall gap, 20.1 pp.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</a:rPr>
              <a:t>Debtor status: 16.2 pp recall gap.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</a:rPr>
              <a:t>Age: 15.1 pp recall gap and largest calibration range.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</a:rPr>
              <a:t>Scholarship status: 11.4 pp recall gap.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385562" y="3845404"/>
            <a:ext cx="4480560" cy="7498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9" name="Text 6"/>
          <p:cNvSpPr/>
          <p:nvPr/>
        </p:nvSpPr>
        <p:spPr>
          <a:xfrm>
            <a:off x="6513578" y="3936844"/>
            <a:ext cx="422452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0233F"/>
                </a:solidFill>
              </a:rPr>
              <a:t>Fairness results are monitoring priorities, not proof of discrimination.</a:t>
            </a:r>
            <a:endParaRPr lang="en-US" sz="1250" dirty="0"/>
          </a:p>
        </p:txBody>
      </p:sp>
      <p:pic>
        <p:nvPicPr>
          <p:cNvPr id="12" name="Picture 11" descr="fairness_full_labels.png">
            <a:extLst>
              <a:ext uri="{FF2B5EF4-FFF2-40B4-BE49-F238E27FC236}">
                <a16:creationId xmlns:a16="http://schemas.microsoft.com/office/drawing/2014/main" id="{614BFB29-6F0B-17D1-2976-CD73C6FA5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39" y="1417323"/>
            <a:ext cx="5029200" cy="31778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</a:rPr>
              <a:t>GOVERNANCE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1155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Controls Required Before Operational Use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5" name="Shape 3"/>
          <p:cNvSpPr/>
          <p:nvPr/>
        </p:nvSpPr>
        <p:spPr>
          <a:xfrm>
            <a:off x="777240" y="1325880"/>
            <a:ext cx="10241280" cy="420624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6" name="Text 4"/>
          <p:cNvSpPr/>
          <p:nvPr/>
        </p:nvSpPr>
        <p:spPr>
          <a:xfrm>
            <a:off x="804672" y="1371600"/>
            <a:ext cx="268833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</a:rPr>
              <a:t>Control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547872" y="1371600"/>
            <a:ext cx="744321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Business requirement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1764792"/>
            <a:ext cx="10241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9" name="Text 7"/>
          <p:cNvSpPr/>
          <p:nvPr/>
        </p:nvSpPr>
        <p:spPr>
          <a:xfrm>
            <a:off x="804672" y="1810512"/>
            <a:ext cx="268833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Human oversight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47872" y="1810512"/>
            <a:ext cx="744321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Trained staff review alerts before action.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2203704"/>
            <a:ext cx="1024128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2" name="Text 10"/>
          <p:cNvSpPr/>
          <p:nvPr/>
        </p:nvSpPr>
        <p:spPr>
          <a:xfrm>
            <a:off x="804672" y="2249424"/>
            <a:ext cx="268833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Override documentation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47872" y="2249424"/>
            <a:ext cx="744321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Record decisions, reasons, and follow-up.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2642616"/>
            <a:ext cx="10241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5" name="Text 13"/>
          <p:cNvSpPr/>
          <p:nvPr/>
        </p:nvSpPr>
        <p:spPr>
          <a:xfrm>
            <a:off x="804672" y="2688336"/>
            <a:ext cx="268833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No adverse automation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47872" y="2688336"/>
            <a:ext cx="744321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No dismissal, admission, scholarship, disciplinary, or service denial.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3081528"/>
            <a:ext cx="1024128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8" name="Text 16"/>
          <p:cNvSpPr/>
          <p:nvPr/>
        </p:nvSpPr>
        <p:spPr>
          <a:xfrm>
            <a:off x="804672" y="3127248"/>
            <a:ext cx="268833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Safety net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47872" y="3127248"/>
            <a:ext cx="744321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Non-alerted students remain eligible for help.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" y="3520440"/>
            <a:ext cx="10241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1" name="Text 19"/>
          <p:cNvSpPr/>
          <p:nvPr/>
        </p:nvSpPr>
        <p:spPr>
          <a:xfrm>
            <a:off x="804672" y="3566160"/>
            <a:ext cx="268833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</a:rPr>
              <a:t>Privacy + audit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47872" y="3566160"/>
            <a:ext cx="744321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Role-based access and model-version logging.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97864" y="4567428"/>
            <a:ext cx="9326880" cy="6858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4" name="Text 22"/>
          <p:cNvSpPr/>
          <p:nvPr/>
        </p:nvSpPr>
        <p:spPr>
          <a:xfrm>
            <a:off x="3121152" y="4654296"/>
            <a:ext cx="907084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0233F"/>
                </a:solidFill>
              </a:rPr>
              <a:t>Governance converts a strong model into a responsible operating process.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</a:rPr>
              <a:t>OPERATIONS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1155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Monitoring Plan After Launch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766E"/>
                </a:solidFill>
              </a:rPr>
              <a:t>Every scoring cycle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1568196"/>
            <a:ext cx="429768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Data quality and schema checks.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Mean risk score and score distribution.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Alert rate and workload changes.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0" y="1234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766E"/>
                </a:solidFill>
              </a:rPr>
              <a:t>Each completed cohort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0" y="1458468"/>
            <a:ext cx="4480560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Overall performance and calibration.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Subgroup fairness metrics.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Program-level robustness.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False-negative and override reviews.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96351" y="3554730"/>
            <a:ext cx="9875520" cy="7315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0" name="Text 8"/>
          <p:cNvSpPr/>
          <p:nvPr/>
        </p:nvSpPr>
        <p:spPr>
          <a:xfrm>
            <a:off x="2039112" y="3671316"/>
            <a:ext cx="961948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0233F"/>
                </a:solidFill>
              </a:rPr>
              <a:t>Trigger for Action: </a:t>
            </a:r>
            <a:r>
              <a:rPr lang="en-US" sz="1250" dirty="0">
                <a:solidFill>
                  <a:srgbClr val="10233F"/>
                </a:solidFill>
              </a:rPr>
              <a:t>material drift, subgroup degradation, calibration shift, or unusual override pattern.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</a:rPr>
              <a:t>EXECUTIVE ASK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1155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and Next Steps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5" name="Shape 3"/>
          <p:cNvSpPr/>
          <p:nvPr/>
        </p:nvSpPr>
        <p:spPr>
          <a:xfrm>
            <a:off x="777240" y="1234440"/>
            <a:ext cx="4023360" cy="12344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6" name="Text 4"/>
          <p:cNvSpPr/>
          <p:nvPr/>
        </p:nvSpPr>
        <p:spPr>
          <a:xfrm>
            <a:off x="905256" y="1325880"/>
            <a:ext cx="3767328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0233F"/>
                </a:solidFill>
              </a:rPr>
              <a:t>Decision recommendation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0233F"/>
                </a:solidFill>
              </a:rPr>
              <a:t>CONDITIONAL GO </a:t>
            </a:r>
            <a:r>
              <a:rPr lang="en-US" sz="1500" dirty="0">
                <a:solidFill>
                  <a:srgbClr val="10233F"/>
                </a:solidFill>
              </a:rPr>
              <a:t>— supportive decision support only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23560" y="142767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33F"/>
                </a:solidFill>
              </a:rPr>
              <a:t>Approve with these conditions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623560" y="1783080"/>
            <a:ext cx="5303520" cy="1512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Keep XGBoost model and 0.48 threshold frozen.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Limit use to supportive outreach and advising.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Implement the monitoring baseline and risk register.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Document human overrides and intervention outcomes.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05256" y="283805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248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905256" y="3295256"/>
            <a:ext cx="15544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Dropouts correctly flagged in holdout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916936" y="283805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DC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36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2916936" y="3295256"/>
            <a:ext cx="13716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Missed actual dropouts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651</Words>
  <Application>Microsoft Macintosh PowerPoint</Application>
  <PresentationFormat>Widescreen</PresentationFormat>
  <Paragraphs>134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Student Dropout Early-Warning Capstone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Presentation — Student Dropout Early-Warning Strategy</dc:title>
  <dc:subject>Business Presentation — Student Dropout Early-Warning Strategy</dc:subject>
  <dc:creator>Janine — AI/ML Capstone</dc:creator>
  <cp:lastModifiedBy>MacBook</cp:lastModifiedBy>
  <cp:revision>3</cp:revision>
  <dcterms:created xsi:type="dcterms:W3CDTF">2026-09-15T20:45:03Z</dcterms:created>
  <dcterms:modified xsi:type="dcterms:W3CDTF">2026-09-24T01:54:40Z</dcterms:modified>
</cp:coreProperties>
</file>